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954500" cy="93091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3878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DBUZ03xF3Q4w/JscS6Hq7EK7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387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39466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16831a497_0_0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016831a497_0_0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16831a497_0_76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3016831a497_0_76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2b82f8250_0_5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2b82f8250_0_5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12b82f8250_0_5:notes"/>
          <p:cNvSpPr txBox="1"/>
          <p:nvPr>
            <p:ph idx="12" type="sldNum"/>
          </p:nvPr>
        </p:nvSpPr>
        <p:spPr>
          <a:xfrm>
            <a:off x="3939466" y="8842030"/>
            <a:ext cx="3013800" cy="467100"/>
          </a:xfrm>
          <a:prstGeom prst="rect">
            <a:avLst/>
          </a:prstGeom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ee850158c_0_0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0ee850158c_0_0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0ee850158c_0_0:notes"/>
          <p:cNvSpPr txBox="1"/>
          <p:nvPr>
            <p:ph idx="12" type="sldNum"/>
          </p:nvPr>
        </p:nvSpPr>
        <p:spPr>
          <a:xfrm>
            <a:off x="3939466" y="8842030"/>
            <a:ext cx="3013800" cy="467100"/>
          </a:xfrm>
          <a:prstGeom prst="rect">
            <a:avLst/>
          </a:prstGeom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c3d563365_0_12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0c3d563365_0_12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ee850158c_0_5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ee850158c_0_5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0ee850158c_0_5:notes"/>
          <p:cNvSpPr txBox="1"/>
          <p:nvPr>
            <p:ph idx="12" type="sldNum"/>
          </p:nvPr>
        </p:nvSpPr>
        <p:spPr>
          <a:xfrm>
            <a:off x="3939466" y="8842030"/>
            <a:ext cx="3013800" cy="467100"/>
          </a:xfrm>
          <a:prstGeom prst="rect">
            <a:avLst/>
          </a:prstGeom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c3d563365_1_2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0c3d563365_1_2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ee850158c_0_10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0ee850158c_0_10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0ee850158c_0_10:notes"/>
          <p:cNvSpPr txBox="1"/>
          <p:nvPr>
            <p:ph idx="12" type="sldNum"/>
          </p:nvPr>
        </p:nvSpPr>
        <p:spPr>
          <a:xfrm>
            <a:off x="3939466" y="8842030"/>
            <a:ext cx="3013800" cy="467100"/>
          </a:xfrm>
          <a:prstGeom prst="rect">
            <a:avLst/>
          </a:prstGeom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c44a48b7d_0_30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0c44a48b7d_0_30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c44a48b7d_0_0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0c44a48b7d_0_0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c44a48b7d_0_5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0c44a48b7d_0_5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c44a48b7d_0_20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0c44a48b7d_0_20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0c44a48b7d_0_36:notes"/>
          <p:cNvSpPr txBox="1"/>
          <p:nvPr>
            <p:ph idx="1" type="body"/>
          </p:nvPr>
        </p:nvSpPr>
        <p:spPr>
          <a:xfrm>
            <a:off x="695484" y="4480004"/>
            <a:ext cx="55638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0c44a48b7d_0_36:notes"/>
          <p:cNvSpPr/>
          <p:nvPr>
            <p:ph idx="2" type="sldImg"/>
          </p:nvPr>
        </p:nvSpPr>
        <p:spPr>
          <a:xfrm>
            <a:off x="685800" y="1163638"/>
            <a:ext cx="5583300" cy="31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65518" y="446720"/>
            <a:ext cx="111816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lang="en-US" sz="3000">
                <a:solidFill>
                  <a:srgbClr val="CC0000"/>
                </a:solidFill>
              </a:rPr>
              <a:t>Signals and Systems</a:t>
            </a:r>
            <a:endParaRPr b="1" sz="3000">
              <a:solidFill>
                <a:srgbClr val="CC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lang="en-US" sz="3000">
                <a:solidFill>
                  <a:srgbClr val="CC0000"/>
                </a:solidFill>
              </a:rPr>
              <a:t>Project Based Learning</a:t>
            </a:r>
            <a:endParaRPr b="1" sz="3000">
              <a:solidFill>
                <a:srgbClr val="CC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C0000"/>
                </a:solidFill>
              </a:rPr>
              <a:t>Project Title:</a:t>
            </a:r>
            <a:endParaRPr sz="3200">
              <a:solidFill>
                <a:srgbClr val="CC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EMG-Based Assistive Device for Enhanced Human Computer Interaction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121475" y="3597275"/>
            <a:ext cx="4625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Supervisor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Dr. Raghu Indrakanti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Assistant Professor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Dept. of ECE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65525" y="3597275"/>
            <a:ext cx="418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Rujul Rumale  </a:t>
            </a:r>
            <a:r>
              <a:rPr lang="en-US" sz="2400">
                <a:solidFill>
                  <a:schemeClr val="dk1"/>
                </a:solidFill>
              </a:rPr>
              <a:t>23EG104B51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 Vignesh    </a:t>
            </a:r>
            <a:r>
              <a:rPr lang="en-US" sz="2400">
                <a:solidFill>
                  <a:schemeClr val="dk1"/>
                </a:solidFill>
              </a:rPr>
              <a:t>23EG104B49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07675" y="5480625"/>
            <a:ext cx="10518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Branch and Section: ECE-B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Dept. of Electronics and Communication Engineering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16831a497_0_0"/>
          <p:cNvSpPr txBox="1"/>
          <p:nvPr/>
        </p:nvSpPr>
        <p:spPr>
          <a:xfrm>
            <a:off x="2416810" y="558165"/>
            <a:ext cx="609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Problem </a:t>
            </a:r>
            <a:r>
              <a:rPr lang="en-US" sz="3200">
                <a:solidFill>
                  <a:srgbClr val="FF0000"/>
                </a:solidFill>
              </a:rPr>
              <a:t>Statements</a:t>
            </a:r>
            <a:r>
              <a:rPr lang="en-US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32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016831a497_0_0"/>
          <p:cNvSpPr txBox="1"/>
          <p:nvPr/>
        </p:nvSpPr>
        <p:spPr>
          <a:xfrm>
            <a:off x="878700" y="1489500"/>
            <a:ext cx="10434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There is a growing need for assistive technology that enables individuals with limited mobility to interact with computers more effectively.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Existing Human-Computer Interaction (HCI) systems often rely on fine motor skills, which may not be suitable for users with muscular impairments.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People with disabilities like amputated wrist or arms have a difficult time interacting with electronic devices which primarily use touch or mouse input.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They lack the motor function to properly use the devices to the full extent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016831a497_0_76"/>
          <p:cNvSpPr txBox="1"/>
          <p:nvPr/>
        </p:nvSpPr>
        <p:spPr>
          <a:xfrm>
            <a:off x="1959610" y="723490"/>
            <a:ext cx="609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Solution: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016831a497_0_76"/>
          <p:cNvSpPr txBox="1"/>
          <p:nvPr/>
        </p:nvSpPr>
        <p:spPr>
          <a:xfrm>
            <a:off x="878700" y="1395000"/>
            <a:ext cx="1043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Make a interface which can use muscles from different parts of the body as an input to an electronic device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00" name="Google Shape;100;g3016831a497_0_76"/>
          <p:cNvSpPr txBox="1"/>
          <p:nvPr/>
        </p:nvSpPr>
        <p:spPr>
          <a:xfrm>
            <a:off x="878700" y="3491625"/>
            <a:ext cx="106032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To develop a system that uses EMG signals to control a computer mouse.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To implement techniques for signal processing, including noise filtering and thresholding, to ensure accuracy of the input signal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To test and validate the system’s usability in real-world scenarios.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01" name="Google Shape;101;g3016831a497_0_76"/>
          <p:cNvSpPr txBox="1"/>
          <p:nvPr/>
        </p:nvSpPr>
        <p:spPr>
          <a:xfrm>
            <a:off x="1959610" y="2767965"/>
            <a:ext cx="609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Objectives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2416810" y="1259015"/>
            <a:ext cx="609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Process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854725" y="1844025"/>
            <a:ext cx="106032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Acquire EMG Signal.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Perform signal </a:t>
            </a:r>
            <a:r>
              <a:rPr lang="en-US" sz="2400">
                <a:solidFill>
                  <a:schemeClr val="dk1"/>
                </a:solidFill>
              </a:rPr>
              <a:t>processing</a:t>
            </a:r>
            <a:r>
              <a:rPr lang="en-US" sz="2400">
                <a:solidFill>
                  <a:schemeClr val="dk1"/>
                </a:solidFill>
              </a:rPr>
              <a:t>, Bandpass, </a:t>
            </a:r>
            <a:r>
              <a:rPr lang="en-US" sz="2400">
                <a:solidFill>
                  <a:schemeClr val="dk1"/>
                </a:solidFill>
              </a:rPr>
              <a:t>Filtration</a:t>
            </a:r>
            <a:r>
              <a:rPr lang="en-US" sz="2400">
                <a:solidFill>
                  <a:schemeClr val="dk1"/>
                </a:solidFill>
              </a:rPr>
              <a:t>, Amplification, etc.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Send data to computer and process </a:t>
            </a:r>
            <a:r>
              <a:rPr lang="en-US" sz="2400">
                <a:solidFill>
                  <a:schemeClr val="dk1"/>
                </a:solidFill>
              </a:rPr>
              <a:t>mouse</a:t>
            </a:r>
            <a:r>
              <a:rPr lang="en-US" sz="2400">
                <a:solidFill>
                  <a:schemeClr val="dk1"/>
                </a:solidFill>
              </a:rPr>
              <a:t> movement.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08" name="Google Shape;10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3875" y="3429000"/>
            <a:ext cx="7584250" cy="296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854725" y="1408825"/>
            <a:ext cx="10603200" cy="45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</a:rPr>
              <a:t>Components:</a:t>
            </a:r>
            <a:endParaRPr b="1" sz="2400" u="sng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Waveshare RP2040 zero</a:t>
            </a:r>
            <a:r>
              <a:rPr lang="en-US" sz="2400">
                <a:solidFill>
                  <a:schemeClr val="dk1"/>
                </a:solidFill>
              </a:rPr>
              <a:t>- Low cost, low power, small 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form </a:t>
            </a:r>
            <a:r>
              <a:rPr lang="en-US" sz="2400">
                <a:solidFill>
                  <a:schemeClr val="dk1"/>
                </a:solidFill>
              </a:rPr>
              <a:t>factor</a:t>
            </a:r>
            <a:r>
              <a:rPr lang="en-US" sz="2400">
                <a:solidFill>
                  <a:schemeClr val="dk1"/>
                </a:solidFill>
              </a:rPr>
              <a:t> micro controller with powerful 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Arm Cortex M0+ cores at 133Mhz and 12 bit ADC for 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higher resolution analog signal processing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	Upside down labs Muscle Bioamp Patchy</a:t>
            </a:r>
            <a:r>
              <a:rPr lang="en-US" sz="2400">
                <a:solidFill>
                  <a:schemeClr val="dk1"/>
                </a:solidFill>
              </a:rPr>
              <a:t>- </a:t>
            </a:r>
            <a:endParaRPr sz="24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2 wearable EMG sensors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with an </a:t>
            </a:r>
            <a:r>
              <a:rPr lang="en-US" sz="2400">
                <a:solidFill>
                  <a:schemeClr val="dk1"/>
                </a:solidFill>
              </a:rPr>
              <a:t>integrated</a:t>
            </a:r>
            <a:r>
              <a:rPr lang="en-US" sz="2400">
                <a:solidFill>
                  <a:schemeClr val="dk1"/>
                </a:solidFill>
              </a:rPr>
              <a:t> band pass filter 72-720Hz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2347060" y="640815"/>
            <a:ext cx="609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Implementation: Hardware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6925" y="1804000"/>
            <a:ext cx="2791431" cy="209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/>
          </a:blip>
          <a:srcRect b="18473" l="17118" r="11016" t="25254"/>
          <a:stretch/>
        </p:blipFill>
        <p:spPr>
          <a:xfrm>
            <a:off x="8443050" y="3900675"/>
            <a:ext cx="3126001" cy="244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12b82f8250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2700"/>
            <a:ext cx="11887199" cy="4948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0ee850158c_0_0"/>
          <p:cNvPicPr preferRelativeResize="0"/>
          <p:nvPr/>
        </p:nvPicPr>
        <p:blipFill rotWithShape="1">
          <a:blip r:embed="rId3">
            <a:alphaModFix/>
          </a:blip>
          <a:srcRect b="3305" l="0" r="0" t="3305"/>
          <a:stretch/>
        </p:blipFill>
        <p:spPr>
          <a:xfrm>
            <a:off x="1128713" y="1733225"/>
            <a:ext cx="9934574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c3d563365_0_12"/>
          <p:cNvSpPr txBox="1"/>
          <p:nvPr/>
        </p:nvSpPr>
        <p:spPr>
          <a:xfrm>
            <a:off x="854725" y="1408825"/>
            <a:ext cx="10603200" cy="58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Arduino IDE</a:t>
            </a:r>
            <a:r>
              <a:rPr lang="en-US" sz="2400">
                <a:solidFill>
                  <a:schemeClr val="dk1"/>
                </a:solidFill>
              </a:rPr>
              <a:t>- Simple and easy to use, wide support 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for multiple libraries for microcontrollers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Python 1.12</a:t>
            </a:r>
            <a:r>
              <a:rPr lang="en-US" sz="2400">
                <a:solidFill>
                  <a:schemeClr val="dk1"/>
                </a:solidFill>
              </a:rPr>
              <a:t>-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Powerful programming language with libraries for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extended control on microcontrollers and computers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Libraries used: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serial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pyautogui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	time, csv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34" name="Google Shape;134;g30c3d563365_0_12"/>
          <p:cNvSpPr txBox="1"/>
          <p:nvPr/>
        </p:nvSpPr>
        <p:spPr>
          <a:xfrm>
            <a:off x="2347060" y="640815"/>
            <a:ext cx="609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Implementation: Software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0c3d563365_0_12"/>
          <p:cNvPicPr preferRelativeResize="0"/>
          <p:nvPr/>
        </p:nvPicPr>
        <p:blipFill rotWithShape="1">
          <a:blip r:embed="rId3">
            <a:alphaModFix/>
          </a:blip>
          <a:srcRect b="0" l="24226" r="26959" t="0"/>
          <a:stretch/>
        </p:blipFill>
        <p:spPr>
          <a:xfrm>
            <a:off x="9131757" y="1225825"/>
            <a:ext cx="1848793" cy="18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0c3d563365_0_12"/>
          <p:cNvPicPr preferRelativeResize="0"/>
          <p:nvPr/>
        </p:nvPicPr>
        <p:blipFill rotWithShape="1">
          <a:blip r:embed="rId4">
            <a:alphaModFix/>
          </a:blip>
          <a:srcRect b="15397" l="0" r="0" t="0"/>
          <a:stretch/>
        </p:blipFill>
        <p:spPr>
          <a:xfrm>
            <a:off x="9036975" y="3222125"/>
            <a:ext cx="2038350" cy="189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0ee850158c_0_5"/>
          <p:cNvPicPr preferRelativeResize="0"/>
          <p:nvPr/>
        </p:nvPicPr>
        <p:blipFill rotWithShape="1">
          <a:blip r:embed="rId3">
            <a:alphaModFix/>
          </a:blip>
          <a:srcRect b="0" l="2444" r="2444" t="0"/>
          <a:stretch/>
        </p:blipFill>
        <p:spPr>
          <a:xfrm>
            <a:off x="731838" y="2495550"/>
            <a:ext cx="10848976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c3d563365_1_2"/>
          <p:cNvSpPr txBox="1"/>
          <p:nvPr/>
        </p:nvSpPr>
        <p:spPr>
          <a:xfrm>
            <a:off x="794400" y="1543325"/>
            <a:ext cx="10603200" cy="4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Thresholding</a:t>
            </a:r>
            <a:r>
              <a:rPr lang="en-US" sz="2400">
                <a:solidFill>
                  <a:schemeClr val="dk1"/>
                </a:solidFill>
              </a:rPr>
              <a:t>:  Only strong signals (indicating deliberate muscle activity) were passed to control the mouse.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Noise Filtering and smoothing</a:t>
            </a:r>
            <a:r>
              <a:rPr lang="en-US" sz="2400">
                <a:solidFill>
                  <a:schemeClr val="dk1"/>
                </a:solidFill>
              </a:rPr>
              <a:t>:  </a:t>
            </a:r>
            <a:r>
              <a:rPr b="1" lang="en-US" sz="2400">
                <a:solidFill>
                  <a:schemeClr val="dk1"/>
                </a:solidFill>
              </a:rPr>
              <a:t>Moving average filter</a:t>
            </a:r>
            <a:r>
              <a:rPr lang="en-US" sz="2400">
                <a:solidFill>
                  <a:schemeClr val="dk1"/>
                </a:solidFill>
              </a:rPr>
              <a:t> was applied to smooth out the EMG signal and reduce artifacts.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Signal Amplification</a:t>
            </a:r>
            <a:r>
              <a:rPr lang="en-US" sz="2400">
                <a:solidFill>
                  <a:schemeClr val="dk1"/>
                </a:solidFill>
              </a:rPr>
              <a:t>:  As EMG sensor signals are weak(~3.3v), they were </a:t>
            </a:r>
            <a:r>
              <a:rPr b="1" lang="en-US" sz="2400">
                <a:solidFill>
                  <a:schemeClr val="dk1"/>
                </a:solidFill>
              </a:rPr>
              <a:t>amplified</a:t>
            </a:r>
            <a:r>
              <a:rPr lang="en-US" sz="2400">
                <a:solidFill>
                  <a:schemeClr val="dk1"/>
                </a:solidFill>
              </a:rPr>
              <a:t> before processing to make sure muscle movements were detected accurately.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Real-time Processing</a:t>
            </a:r>
            <a:r>
              <a:rPr lang="en-US" sz="2400">
                <a:solidFill>
                  <a:schemeClr val="dk1"/>
                </a:solidFill>
              </a:rPr>
              <a:t>:  Signal processing was done in real-time to ensure immediate feedback and smooth mouse control.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48" name="Google Shape;148;g30c3d563365_1_2"/>
          <p:cNvSpPr txBox="1"/>
          <p:nvPr/>
        </p:nvSpPr>
        <p:spPr>
          <a:xfrm>
            <a:off x="1774549" y="767825"/>
            <a:ext cx="666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Implementation: Signal Processing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0ee850158c_0_10"/>
          <p:cNvPicPr preferRelativeResize="0"/>
          <p:nvPr/>
        </p:nvPicPr>
        <p:blipFill rotWithShape="1">
          <a:blip r:embed="rId3">
            <a:alphaModFix/>
          </a:blip>
          <a:srcRect b="3305" l="0" r="0" t="3305"/>
          <a:stretch/>
        </p:blipFill>
        <p:spPr>
          <a:xfrm>
            <a:off x="1128713" y="1614488"/>
            <a:ext cx="9934574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c44a48b7d_0_30"/>
          <p:cNvSpPr txBox="1"/>
          <p:nvPr/>
        </p:nvSpPr>
        <p:spPr>
          <a:xfrm>
            <a:off x="794400" y="1543325"/>
            <a:ext cx="106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60" name="Google Shape;160;g30c44a48b7d_0_30"/>
          <p:cNvSpPr txBox="1"/>
          <p:nvPr/>
        </p:nvSpPr>
        <p:spPr>
          <a:xfrm>
            <a:off x="1751299" y="628350"/>
            <a:ext cx="666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Implementation: Signal Processing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g30c44a48b7d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25" y="1352824"/>
            <a:ext cx="11245200" cy="526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c44a48b7d_0_0"/>
          <p:cNvSpPr txBox="1"/>
          <p:nvPr/>
        </p:nvSpPr>
        <p:spPr>
          <a:xfrm>
            <a:off x="794400" y="1543325"/>
            <a:ext cx="106032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EMG signal processing was </a:t>
            </a:r>
            <a:r>
              <a:rPr lang="en-US" sz="2400">
                <a:solidFill>
                  <a:schemeClr val="dk1"/>
                </a:solidFill>
              </a:rPr>
              <a:t>verified</a:t>
            </a:r>
            <a:r>
              <a:rPr lang="en-US" sz="2400">
                <a:solidFill>
                  <a:schemeClr val="dk1"/>
                </a:solidFill>
              </a:rPr>
              <a:t> by </a:t>
            </a:r>
            <a:r>
              <a:rPr lang="en-US" sz="2400">
                <a:solidFill>
                  <a:schemeClr val="dk1"/>
                </a:solidFill>
              </a:rPr>
              <a:t>using</a:t>
            </a:r>
            <a:r>
              <a:rPr lang="en-US" sz="2400">
                <a:solidFill>
                  <a:schemeClr val="dk1"/>
                </a:solidFill>
              </a:rPr>
              <a:t> the </a:t>
            </a:r>
            <a:r>
              <a:rPr b="1" lang="en-US" sz="2400">
                <a:solidFill>
                  <a:schemeClr val="dk1"/>
                </a:solidFill>
              </a:rPr>
              <a:t>serial plotter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chemeClr val="dk1"/>
                </a:solidFill>
              </a:rPr>
              <a:t>available</a:t>
            </a:r>
            <a:r>
              <a:rPr lang="en-US" sz="2400">
                <a:solidFill>
                  <a:schemeClr val="dk1"/>
                </a:solidFill>
              </a:rPr>
              <a:t> in </a:t>
            </a:r>
            <a:r>
              <a:rPr b="1" lang="en-US" sz="2400">
                <a:solidFill>
                  <a:schemeClr val="dk1"/>
                </a:solidFill>
              </a:rPr>
              <a:t>Arduino IDE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Serial communication was tested using python </a:t>
            </a:r>
            <a:r>
              <a:rPr b="1" lang="en-US" sz="2400">
                <a:solidFill>
                  <a:schemeClr val="dk1"/>
                </a:solidFill>
              </a:rPr>
              <a:t>serial library</a:t>
            </a:r>
            <a:r>
              <a:rPr lang="en-US" sz="2400">
                <a:solidFill>
                  <a:schemeClr val="dk1"/>
                </a:solidFill>
              </a:rPr>
              <a:t> and data was saved to a csv file and hence verified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EMG signals were sent through serial communication and verified by plotting rhe </a:t>
            </a:r>
            <a:r>
              <a:rPr b="1" lang="en-US" sz="2400">
                <a:solidFill>
                  <a:schemeClr val="dk1"/>
                </a:solidFill>
              </a:rPr>
              <a:t>resulting CSV file</a:t>
            </a:r>
            <a:r>
              <a:rPr lang="en-US" sz="2400">
                <a:solidFill>
                  <a:schemeClr val="dk1"/>
                </a:solidFill>
              </a:rPr>
              <a:t> in </a:t>
            </a:r>
            <a:r>
              <a:rPr b="1" lang="en-US" sz="2400">
                <a:solidFill>
                  <a:schemeClr val="dk1"/>
                </a:solidFill>
              </a:rPr>
              <a:t>MATLAB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mouse movement was tested by using a python script with the </a:t>
            </a:r>
            <a:r>
              <a:rPr b="1" lang="en-US" sz="2400">
                <a:solidFill>
                  <a:schemeClr val="dk1"/>
                </a:solidFill>
              </a:rPr>
              <a:t>pyautogui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library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67" name="Google Shape;167;g30c44a48b7d_0_0"/>
          <p:cNvSpPr txBox="1"/>
          <p:nvPr/>
        </p:nvSpPr>
        <p:spPr>
          <a:xfrm>
            <a:off x="1774549" y="767825"/>
            <a:ext cx="666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Testing</a:t>
            </a:r>
            <a:r>
              <a:rPr lang="en-US" sz="3200">
                <a:solidFill>
                  <a:srgbClr val="FF0000"/>
                </a:solidFill>
              </a:rPr>
              <a:t> &amp; Validation: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c44a48b7d_0_5"/>
          <p:cNvSpPr txBox="1"/>
          <p:nvPr/>
        </p:nvSpPr>
        <p:spPr>
          <a:xfrm>
            <a:off x="794400" y="1543325"/>
            <a:ext cx="10603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Key Takeaways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EMG signals can be used to provide computer inputs without using traditional methods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signals accuracy and responsiveness are good but still can be improved 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They can also be used for applications other than </a:t>
            </a:r>
            <a:r>
              <a:rPr lang="en-US" sz="2400">
                <a:solidFill>
                  <a:schemeClr val="dk1"/>
                </a:solidFill>
              </a:rPr>
              <a:t>the</a:t>
            </a:r>
            <a:r>
              <a:rPr lang="en-US" sz="2400">
                <a:solidFill>
                  <a:schemeClr val="dk1"/>
                </a:solidFill>
              </a:rPr>
              <a:t> computer control like robotics mechanical arm control etc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73" name="Google Shape;173;g30c44a48b7d_0_5"/>
          <p:cNvSpPr txBox="1"/>
          <p:nvPr/>
        </p:nvSpPr>
        <p:spPr>
          <a:xfrm>
            <a:off x="1774549" y="767825"/>
            <a:ext cx="666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 Final Report &amp; Analysis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c44a48b7d_0_20"/>
          <p:cNvSpPr txBox="1"/>
          <p:nvPr/>
        </p:nvSpPr>
        <p:spPr>
          <a:xfrm>
            <a:off x="794400" y="1543325"/>
            <a:ext cx="10603200" cy="3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More sensors for multi channel control, making more advanced control available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Simplifying the program and </a:t>
            </a:r>
            <a:r>
              <a:rPr lang="en-US" sz="2400">
                <a:solidFill>
                  <a:schemeClr val="dk1"/>
                </a:solidFill>
              </a:rPr>
              <a:t>algorithms</a:t>
            </a:r>
            <a:r>
              <a:rPr lang="en-US" sz="2400">
                <a:solidFill>
                  <a:schemeClr val="dk1"/>
                </a:solidFill>
              </a:rPr>
              <a:t> for efficient and faster execution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Getting better signals by testing different filters like boxcar and </a:t>
            </a:r>
            <a:r>
              <a:rPr lang="en-US" sz="2400">
                <a:solidFill>
                  <a:schemeClr val="dk1"/>
                </a:solidFill>
              </a:rPr>
              <a:t>gaussian</a:t>
            </a:r>
            <a:r>
              <a:rPr lang="en-US" sz="2400">
                <a:solidFill>
                  <a:schemeClr val="dk1"/>
                </a:solidFill>
              </a:rPr>
              <a:t> smoothing 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Adding on the go adjustable sensitivity for user’s ease of use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Implementing a mouse mapping algorithm for control without extreme </a:t>
            </a:r>
            <a:r>
              <a:rPr lang="en-US" sz="2400">
                <a:solidFill>
                  <a:schemeClr val="dk1"/>
                </a:solidFill>
              </a:rPr>
              <a:t>muscle</a:t>
            </a:r>
            <a:r>
              <a:rPr lang="en-US" sz="2400">
                <a:solidFill>
                  <a:schemeClr val="dk1"/>
                </a:solidFill>
              </a:rPr>
              <a:t> contraction.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9" name="Google Shape;179;g30c44a48b7d_0_20"/>
          <p:cNvSpPr txBox="1"/>
          <p:nvPr/>
        </p:nvSpPr>
        <p:spPr>
          <a:xfrm>
            <a:off x="1774549" y="767825"/>
            <a:ext cx="666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Future Upgrades/Possibilities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c44a48b7d_0_36"/>
          <p:cNvSpPr txBox="1"/>
          <p:nvPr/>
        </p:nvSpPr>
        <p:spPr>
          <a:xfrm>
            <a:off x="794400" y="1543325"/>
            <a:ext cx="10603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Successfully Acquired EMG sensor data and applied signal processing like amplification and Filtering.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Achieved EMG to mouse movement by mappint the processed output to mouse vector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Found potential for improvement and learnt about different algorithms and methods for signal processing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85" name="Google Shape;185;g30c44a48b7d_0_36"/>
          <p:cNvSpPr txBox="1"/>
          <p:nvPr/>
        </p:nvSpPr>
        <p:spPr>
          <a:xfrm>
            <a:off x="1774549" y="767825"/>
            <a:ext cx="666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</a:rPr>
              <a:t>Conclusion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/>
        </p:nvSpPr>
        <p:spPr>
          <a:xfrm>
            <a:off x="3108325" y="3014025"/>
            <a:ext cx="6096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2020-11-23T06:12:00Z</dcterms:created>
  <dc:creator>Harish Mugutkar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80B39D038A9B49DB8F1A2C631E109A3B_13</vt:lpwstr>
  </property>
  <property fmtid="{D5CDD505-2E9C-101B-9397-08002B2CF9AE}" pid="3" name="KSOProductBuildVer">
    <vt:lpwstr>1033-12.2.0.17562</vt:lpwstr>
  </property>
</Properties>
</file>